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0" r:id="rId3"/>
    <p:sldId id="257" r:id="rId4"/>
    <p:sldId id="258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58" autoAdjust="0"/>
    <p:restoredTop sz="94660"/>
  </p:normalViewPr>
  <p:slideViewPr>
    <p:cSldViewPr snapToGrid="0">
      <p:cViewPr varScale="1">
        <p:scale>
          <a:sx n="78" d="100"/>
          <a:sy n="78" d="100"/>
        </p:scale>
        <p:origin x="65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B4985-D9E7-4294-9F99-9A8A8CABA52D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1BF6A-ABBB-46B5-8FA6-3B17069373A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B4985-D9E7-4294-9F99-9A8A8CABA52D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1BF6A-ABBB-46B5-8FA6-3B17069373A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B4985-D9E7-4294-9F99-9A8A8CABA52D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1BF6A-ABBB-46B5-8FA6-3B17069373A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B4985-D9E7-4294-9F99-9A8A8CABA52D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1BF6A-ABBB-46B5-8FA6-3B17069373A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B4985-D9E7-4294-9F99-9A8A8CABA52D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1BF6A-ABBB-46B5-8FA6-3B17069373A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B4985-D9E7-4294-9F99-9A8A8CABA52D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1BF6A-ABBB-46B5-8FA6-3B17069373A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B4985-D9E7-4294-9F99-9A8A8CABA52D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1BF6A-ABBB-46B5-8FA6-3B17069373A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B4985-D9E7-4294-9F99-9A8A8CABA52D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1BF6A-ABBB-46B5-8FA6-3B17069373A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B4985-D9E7-4294-9F99-9A8A8CABA52D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1BF6A-ABBB-46B5-8FA6-3B17069373A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B4985-D9E7-4294-9F99-9A8A8CABA52D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1BF6A-ABBB-46B5-8FA6-3B17069373A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B4985-D9E7-4294-9F99-9A8A8CABA52D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1BF6A-ABBB-46B5-8FA6-3B17069373A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6B4985-D9E7-4294-9F99-9A8A8CABA52D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81BF6A-ABBB-46B5-8FA6-3B17069373A4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420745"/>
            <a:ext cx="10515600" cy="1325563"/>
          </a:xfrm>
        </p:spPr>
        <p:txBody>
          <a:bodyPr>
            <a:normAutofit fontScale="90000"/>
          </a:bodyPr>
          <a:p>
            <a:pPr algn="ctr"/>
            <a:r>
              <a:rPr b="1">
                <a:sym typeface="+mn-ea"/>
              </a:rPr>
              <a:t>Amazon Prime Show Ratings </a:t>
            </a:r>
            <a:r>
              <a:rPr lang="en-IN" b="1">
                <a:sym typeface="+mn-ea"/>
              </a:rPr>
              <a:t>                     </a:t>
            </a:r>
            <a:r>
              <a:rPr b="1">
                <a:sym typeface="+mn-ea"/>
              </a:rPr>
              <a:t>Dashboard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32735" y="5092700"/>
            <a:ext cx="6492240" cy="1765300"/>
          </a:xfrm>
        </p:spPr>
        <p:txBody>
          <a:bodyPr/>
          <a:p>
            <a:pPr marL="0" indent="0" algn="ctr">
              <a:buNone/>
            </a:pPr>
            <a:r>
              <a:rPr sz="3200">
                <a:sym typeface="+mn-ea"/>
              </a:rPr>
              <a:t>Under the Guidance of Vikas Kalal</a:t>
            </a:r>
            <a:endParaRPr sz="3200">
              <a:sym typeface="+mn-ea"/>
            </a:endParaRPr>
          </a:p>
          <a:p>
            <a:pPr marL="0" indent="0" algn="ctr">
              <a:buNone/>
            </a:pPr>
            <a:r>
              <a:rPr lang="en-IN" sz="3200">
                <a:sym typeface="+mn-ea"/>
              </a:rPr>
              <a:t>   </a:t>
            </a:r>
            <a:r>
              <a:rPr sz="3200">
                <a:sym typeface="+mn-ea"/>
              </a:rPr>
              <a:t>By Faizan Q Sheikh</a:t>
            </a:r>
            <a:endParaRPr lang="en-US" sz="320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160020"/>
            <a:ext cx="11353800" cy="28797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>
            <p:custDataLst>
              <p:tags r:id="rId1"/>
            </p:custDataLst>
          </p:nvPr>
        </p:nvSpPr>
        <p:spPr>
          <a:xfrm>
            <a:off x="0" y="83575"/>
            <a:ext cx="12192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Stacked </a:t>
            </a:r>
            <a:r>
              <a:rPr lang="en-I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Bar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Chart</a:t>
            </a: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0" y="668593"/>
            <a:ext cx="12192000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sz="2000" b="1">
                <a:sym typeface="+mn-ea"/>
              </a:rPr>
              <a:t>Displays Ratings on Y-axis and Count of Show ID on X-axis, showing rating distribution.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/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0" y="1345701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Stacked Bar Chart</a:t>
            </a:r>
            <a:endParaRPr lang="en-IN" sz="2400" b="1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>
            <p:custDataLst>
              <p:tags r:id="rId4"/>
            </p:custDataLst>
          </p:nvPr>
        </p:nvSpPr>
        <p:spPr>
          <a:xfrm>
            <a:off x="-1" y="1861309"/>
            <a:ext cx="12192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sz="2000" b="1">
                <a:sym typeface="+mn-ea"/>
              </a:rPr>
              <a:t>Highlights the number of shows for each rating category for deeper comparison.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>
            <p:custDataLst>
              <p:tags r:id="rId5"/>
            </p:custDataLst>
          </p:nvPr>
        </p:nvSpPr>
        <p:spPr>
          <a:xfrm>
            <a:off x="-2" y="3391226"/>
            <a:ext cx="12192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sz="2000" b="1">
                <a:sym typeface="+mn-ea"/>
              </a:rPr>
              <a:t>Shows global distribution of shows using Country as location and Count of Show ID as tooltip.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>
            <p:custDataLst>
              <p:tags r:id="rId6"/>
            </p:custDataLst>
          </p:nvPr>
        </p:nvSpPr>
        <p:spPr>
          <a:xfrm>
            <a:off x="-196646" y="2749378"/>
            <a:ext cx="12192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Filled Map</a:t>
            </a:r>
            <a:endParaRPr lang="en-IN" alt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>
            <p:custDataLst>
              <p:tags r:id="rId7"/>
            </p:custDataLst>
          </p:nvPr>
        </p:nvSpPr>
        <p:spPr>
          <a:xfrm>
            <a:off x="1" y="4000213"/>
            <a:ext cx="12192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Donut Chart</a:t>
            </a:r>
            <a:endParaRPr lang="en-US" sz="24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>
            <p:custDataLst>
              <p:tags r:id="rId8"/>
            </p:custDataLst>
          </p:nvPr>
        </p:nvSpPr>
        <p:spPr>
          <a:xfrm>
            <a:off x="82" y="4614996"/>
            <a:ext cx="12270658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sz="2000" b="1">
                <a:sym typeface="+mn-ea"/>
              </a:rPr>
              <a:t> Represents content Type (Movies/TV Shows) with Count of Show ID as value.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2"/>
          <p:cNvSpPr txBox="1"/>
          <p:nvPr/>
        </p:nvSpPr>
        <p:spPr>
          <a:xfrm>
            <a:off x="0" y="5168265"/>
            <a:ext cx="12192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IN" altLang="en-US" sz="24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Area</a:t>
            </a:r>
            <a:r>
              <a:rPr lang="en-US" sz="24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Chart</a:t>
            </a:r>
            <a:endParaRPr lang="en-IN" sz="24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2"/>
          <p:cNvSpPr txBox="1"/>
          <p:nvPr/>
        </p:nvSpPr>
        <p:spPr>
          <a:xfrm>
            <a:off x="0" y="5782945"/>
            <a:ext cx="12192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000" b="1">
                <a:sym typeface="+mn-ea"/>
              </a:rPr>
              <a:t>    5. </a:t>
            </a:r>
            <a:r>
              <a:rPr sz="2000" b="1">
                <a:sym typeface="+mn-ea"/>
              </a:rPr>
              <a:t>Displays trend of shows released by year, categorized by Type.</a:t>
            </a:r>
            <a:endParaRPr lang="en-IN" altLang="en-US" sz="20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762000"/>
            <a:ext cx="12192000" cy="54438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1">
              <a:lnSpc>
                <a:spcPct val="130000"/>
              </a:lnSpc>
            </a:pPr>
            <a:r>
              <a:rPr sz="3200">
                <a:sym typeface="+mn-ea"/>
              </a:rPr>
              <a:t>The dashboard also includes </a:t>
            </a:r>
            <a:r>
              <a:rPr sz="3200" b="1">
                <a:sym typeface="+mn-ea"/>
              </a:rPr>
              <a:t>six </a:t>
            </a:r>
            <a:r>
              <a:rPr sz="3200">
                <a:sym typeface="+mn-ea"/>
              </a:rPr>
              <a:t>KPI cards that highlight key statistics:</a:t>
            </a:r>
            <a:endParaRPr sz="3200">
              <a:sym typeface="+mn-ea"/>
            </a:endParaRPr>
          </a:p>
          <a:p>
            <a:pPr lvl="1">
              <a:lnSpc>
                <a:spcPct val="130000"/>
              </a:lnSpc>
            </a:pPr>
            <a:r>
              <a:rPr sz="3200">
                <a:sym typeface="+mn-ea"/>
              </a:rPr>
              <a:t>• Total Titles (Count of Title)</a:t>
            </a:r>
            <a:endParaRPr sz="3200">
              <a:sym typeface="+mn-ea"/>
            </a:endParaRPr>
          </a:p>
          <a:p>
            <a:pPr lvl="1">
              <a:lnSpc>
                <a:spcPct val="130000"/>
              </a:lnSpc>
            </a:pPr>
            <a:r>
              <a:rPr sz="3200">
                <a:sym typeface="+mn-ea"/>
              </a:rPr>
              <a:t>• Average Rating</a:t>
            </a:r>
            <a:endParaRPr sz="3200">
              <a:sym typeface="+mn-ea"/>
            </a:endParaRPr>
          </a:p>
          <a:p>
            <a:pPr lvl="1">
              <a:lnSpc>
                <a:spcPct val="130000"/>
              </a:lnSpc>
            </a:pPr>
            <a:r>
              <a:rPr sz="3200">
                <a:sym typeface="+mn-ea"/>
              </a:rPr>
              <a:t>• Total Categories (Count of Listed In)</a:t>
            </a:r>
            <a:endParaRPr sz="3200">
              <a:sym typeface="+mn-ea"/>
            </a:endParaRPr>
          </a:p>
          <a:p>
            <a:pPr lvl="1">
              <a:lnSpc>
                <a:spcPct val="130000"/>
              </a:lnSpc>
            </a:pPr>
            <a:r>
              <a:rPr sz="3200">
                <a:sym typeface="+mn-ea"/>
              </a:rPr>
              <a:t>• Total Directors (Count of Director)</a:t>
            </a:r>
            <a:endParaRPr sz="3200">
              <a:sym typeface="+mn-ea"/>
            </a:endParaRPr>
          </a:p>
          <a:p>
            <a:pPr lvl="1">
              <a:lnSpc>
                <a:spcPct val="130000"/>
              </a:lnSpc>
            </a:pPr>
            <a:r>
              <a:rPr sz="3200">
                <a:sym typeface="+mn-ea"/>
              </a:rPr>
              <a:t>• Minimum Release Year</a:t>
            </a:r>
            <a:endParaRPr sz="3200">
              <a:sym typeface="+mn-ea"/>
            </a:endParaRPr>
          </a:p>
          <a:p>
            <a:pPr lvl="1">
              <a:lnSpc>
                <a:spcPct val="130000"/>
              </a:lnSpc>
            </a:pPr>
            <a:r>
              <a:rPr sz="3200">
                <a:sym typeface="+mn-ea"/>
              </a:rPr>
              <a:t>• Maximum Release Year</a:t>
            </a:r>
            <a:endParaRPr sz="3200">
              <a:sym typeface="+mn-ea"/>
            </a:endParaRPr>
          </a:p>
          <a:p>
            <a:pPr lvl="1">
              <a:lnSpc>
                <a:spcPct val="130000"/>
              </a:lnSpc>
            </a:pPr>
            <a:r>
              <a:rPr sz="3200">
                <a:sym typeface="+mn-ea"/>
              </a:rPr>
              <a:t>These KPIs provide quick insights into the dataset’s key metrics.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KPI Cards Summary</a:t>
            </a:r>
            <a:endParaRPr lang="en-IN" sz="24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75304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Learnings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798830"/>
            <a:ext cx="12192000" cy="49098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1" indent="0" algn="l">
              <a:lnSpc>
                <a:spcPct val="230000"/>
              </a:lnSpc>
              <a:buFont typeface="Wingdings" panose="05000000000000000000" pitchFamily="2" charset="2"/>
              <a:buNone/>
            </a:pPr>
            <a:r>
              <a:rPr sz="2800">
                <a:sym typeface="+mn-ea"/>
              </a:rPr>
              <a:t>• Most content is released after 2015, showing Amazon's rapid content growth.</a:t>
            </a:r>
            <a:endParaRPr sz="2800">
              <a:sym typeface="+mn-ea"/>
            </a:endParaRPr>
          </a:p>
          <a:p>
            <a:pPr lvl="1" indent="0" algn="l">
              <a:lnSpc>
                <a:spcPct val="230000"/>
              </a:lnSpc>
              <a:buFont typeface="Wingdings" panose="05000000000000000000" pitchFamily="2" charset="2"/>
              <a:buNone/>
            </a:pPr>
            <a:r>
              <a:rPr sz="2800">
                <a:sym typeface="+mn-ea"/>
              </a:rPr>
              <a:t>• Movies are more frequent than TV Shows.</a:t>
            </a:r>
            <a:endParaRPr sz="2800">
              <a:sym typeface="+mn-ea"/>
            </a:endParaRPr>
          </a:p>
          <a:p>
            <a:pPr lvl="1" indent="0" algn="l">
              <a:lnSpc>
                <a:spcPct val="230000"/>
              </a:lnSpc>
              <a:buFont typeface="Wingdings" panose="05000000000000000000" pitchFamily="2" charset="2"/>
              <a:buNone/>
            </a:pPr>
            <a:r>
              <a:rPr sz="2800">
                <a:sym typeface="+mn-ea"/>
              </a:rPr>
              <a:t>• USA and India are top contributors in content production.</a:t>
            </a:r>
            <a:endParaRPr sz="2800">
              <a:sym typeface="+mn-ea"/>
            </a:endParaRPr>
          </a:p>
          <a:p>
            <a:pPr lvl="1" indent="0" algn="l">
              <a:lnSpc>
                <a:spcPct val="230000"/>
              </a:lnSpc>
              <a:buFont typeface="Wingdings" panose="05000000000000000000" pitchFamily="2" charset="2"/>
              <a:buNone/>
            </a:pPr>
            <a:r>
              <a:rPr sz="2800">
                <a:sym typeface="+mn-ea"/>
              </a:rPr>
              <a:t>• Ratings are majorly concentrated between 3 and 5 stars.</a:t>
            </a:r>
            <a:endParaRPr sz="2800">
              <a:sym typeface="+mn-ea"/>
            </a:endParaRPr>
          </a:p>
          <a:p>
            <a:pPr lvl="1" indent="0" algn="l">
              <a:lnSpc>
                <a:spcPct val="230000"/>
              </a:lnSpc>
              <a:buFont typeface="Wingdings" panose="05000000000000000000" pitchFamily="2" charset="2"/>
              <a:buNone/>
            </a:pPr>
            <a:r>
              <a:rPr sz="2800">
                <a:sym typeface="+mn-ea"/>
              </a:rPr>
              <a:t>• The number of shows continues to increase over the years.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260725" y="436245"/>
            <a:ext cx="5669915" cy="14154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IN" altLang="en-US" sz="4800"/>
              <a:t>conclusion</a:t>
            </a:r>
            <a:endParaRPr lang="en-IN" altLang="en-US" sz="4800"/>
          </a:p>
        </p:txBody>
      </p:sp>
      <p:sp>
        <p:nvSpPr>
          <p:cNvPr id="3" name="Text Box 2"/>
          <p:cNvSpPr txBox="1"/>
          <p:nvPr/>
        </p:nvSpPr>
        <p:spPr>
          <a:xfrm>
            <a:off x="681990" y="1590675"/>
            <a:ext cx="10826750" cy="3104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en-US" sz="2000" b="1"/>
              <a:t>The dashboard clearly shows trends in ratings, show types, and release years.</a:t>
            </a:r>
            <a:endParaRPr lang="en-US" altLang="en-US" sz="2000" b="1"/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endParaRPr lang="en-US" altLang="en-US" sz="2000" b="1"/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en-US" sz="2000" b="1"/>
              <a:t>Provides quick insights into Amazon Prime’s overall content performance. like this it is copying how to add bullets in wps ppt</a:t>
            </a:r>
            <a:endParaRPr lang="en-US" altLang="en-US" sz="2000" b="1"/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endParaRPr lang="en-US" altLang="en-US" sz="2000" b="1"/>
          </a:p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en-US" sz="2000" b="1"/>
              <a:t>Provides quick insights into Amazon Prime’s overall content performance. like this it is copying how to add bullets in wps ppt</a:t>
            </a:r>
            <a:endParaRPr lang="en-US" altLang="en-US" sz="2000" b="1"/>
          </a:p>
        </p:txBody>
      </p:sp>
      <p:sp>
        <p:nvSpPr>
          <p:cNvPr id="4" name="Text Box 3"/>
          <p:cNvSpPr txBox="1"/>
          <p:nvPr/>
        </p:nvSpPr>
        <p:spPr>
          <a:xfrm>
            <a:off x="4012565" y="5186680"/>
            <a:ext cx="406400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IN" altLang="en-US" sz="3200" b="1">
                <a:solidFill>
                  <a:srgbClr val="FFC000"/>
                </a:solidFill>
              </a:rPr>
              <a:t>Thats All From Mine</a:t>
            </a:r>
            <a:endParaRPr lang="en-IN" altLang="en-US" sz="3200" b="1">
              <a:solidFill>
                <a:srgbClr val="FFC000"/>
              </a:solidFill>
            </a:endParaRPr>
          </a:p>
          <a:p>
            <a:pPr algn="ctr"/>
            <a:r>
              <a:rPr lang="en-IN" altLang="en-US" sz="3200" b="1">
                <a:solidFill>
                  <a:srgbClr val="FFC000"/>
                </a:solidFill>
              </a:rPr>
              <a:t>Thankyou</a:t>
            </a:r>
            <a:endParaRPr lang="en-IN" altLang="en-US" sz="3200" b="1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86.82826771653544,&quot;left&quot;:-15.483937007874015,&quot;top&quot;:6.580708661417321,&quot;width&quot;:981.683937007874}"/>
</p:tagLst>
</file>

<file path=ppt/tags/tag2.xml><?xml version="1.0" encoding="utf-8"?>
<p:tagLst xmlns:p="http://schemas.openxmlformats.org/presentationml/2006/main">
  <p:tag name="KSO_WM_DIAGRAM_VIRTUALLY_FRAME" val="{&quot;height&quot;:486.82826771653544,&quot;left&quot;:-15.483937007874015,&quot;top&quot;:6.580708661417321,&quot;width&quot;:981.683937007874}"/>
</p:tagLst>
</file>

<file path=ppt/tags/tag3.xml><?xml version="1.0" encoding="utf-8"?>
<p:tagLst xmlns:p="http://schemas.openxmlformats.org/presentationml/2006/main">
  <p:tag name="KSO_WM_DIAGRAM_VIRTUALLY_FRAME" val="{&quot;height&quot;:486.82826771653544,&quot;left&quot;:-15.483937007874015,&quot;top&quot;:6.580708661417321,&quot;width&quot;:981.683937007874}"/>
</p:tagLst>
</file>

<file path=ppt/tags/tag4.xml><?xml version="1.0" encoding="utf-8"?>
<p:tagLst xmlns:p="http://schemas.openxmlformats.org/presentationml/2006/main">
  <p:tag name="KSO_WM_DIAGRAM_VIRTUALLY_FRAME" val="{&quot;height&quot;:486.82826771653544,&quot;left&quot;:-15.483937007874015,&quot;top&quot;:6.580708661417321,&quot;width&quot;:981.683937007874}"/>
</p:tagLst>
</file>

<file path=ppt/tags/tag5.xml><?xml version="1.0" encoding="utf-8"?>
<p:tagLst xmlns:p="http://schemas.openxmlformats.org/presentationml/2006/main">
  <p:tag name="KSO_WM_DIAGRAM_VIRTUALLY_FRAME" val="{&quot;height&quot;:486.82826771653544,&quot;left&quot;:-15.483937007874015,&quot;top&quot;:6.580708661417321,&quot;width&quot;:981.683937007874}"/>
</p:tagLst>
</file>

<file path=ppt/tags/tag6.xml><?xml version="1.0" encoding="utf-8"?>
<p:tagLst xmlns:p="http://schemas.openxmlformats.org/presentationml/2006/main">
  <p:tag name="KSO_WM_DIAGRAM_VIRTUALLY_FRAME" val="{&quot;height&quot;:486.82826771653544,&quot;left&quot;:-15.483937007874015,&quot;top&quot;:6.580708661417321,&quot;width&quot;:981.683937007874}"/>
</p:tagLst>
</file>

<file path=ppt/tags/tag7.xml><?xml version="1.0" encoding="utf-8"?>
<p:tagLst xmlns:p="http://schemas.openxmlformats.org/presentationml/2006/main">
  <p:tag name="KSO_WM_DIAGRAM_VIRTUALLY_FRAME" val="{&quot;height&quot;:486.82826771653544,&quot;left&quot;:-15.483937007874015,&quot;top&quot;:6.580708661417321,&quot;width&quot;:981.683937007874}"/>
</p:tagLst>
</file>

<file path=ppt/tags/tag8.xml><?xml version="1.0" encoding="utf-8"?>
<p:tagLst xmlns:p="http://schemas.openxmlformats.org/presentationml/2006/main">
  <p:tag name="KSO_WM_DIAGRAM_VIRTUALLY_FRAME" val="{&quot;height&quot;:486.82826771653544,&quot;left&quot;:-15.483937007874015,&quot;top&quot;:6.580708661417321,&quot;width&quot;:981.68393700787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1601</Words>
  <Application>WPS Presentation</Application>
  <PresentationFormat>Widescreen</PresentationFormat>
  <Paragraphs>56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Arial</vt:lpstr>
      <vt:lpstr>SimSun</vt:lpstr>
      <vt:lpstr>Wingdings</vt:lpstr>
      <vt:lpstr>Times New Roman</vt:lpstr>
      <vt:lpstr>Calibri Light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Rajat Singh</dc:creator>
  <cp:lastModifiedBy>Faizan sheikh</cp:lastModifiedBy>
  <cp:revision>3</cp:revision>
  <dcterms:created xsi:type="dcterms:W3CDTF">2025-10-13T17:52:00Z</dcterms:created>
  <dcterms:modified xsi:type="dcterms:W3CDTF">2025-10-15T18:38:36Z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05744DE37CF54775B6D1D50ACA760311_13</vt:lpwstr>
  </property>
  <property fmtid="{D5CDD505-2E9C-101B-9397-08002B2CF9AE}" pid="3" name="KSOProductBuildVer">
    <vt:lpwstr>1033-12.2.0.22549</vt:lpwstr>
  </property>
</Properties>
</file>